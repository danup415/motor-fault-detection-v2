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4d3710bff3b2fbbb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h4d3710bff3b2fbbb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4d3710bff3b2fbbb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4d3710bff3b2fbbb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4d3710bff3b2fbbb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4d3710bff3b2fbbb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d3710bff3b2fbbb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d3710bff3b2fbbb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4d3710bff3b2fbbb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4d3710bff3b2fbbb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4d3710bff3b2fbbb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4d3710bff3b2fbbb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4d3710bff3b2fbbb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4d3710bff3b2fbbb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4d3710bff3b2fbbb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h4d3710bff3b2fbbb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4d3710bff3b2fbb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h4d3710bff3b2fbb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4d3710bff3b2fb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h4d3710bff3b2fb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d3710bff3b2fbbb_13_0)">
  <p:cSld name="Generated (h4d3710bff3b2fbbb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a9df8e58baa8329_14_0)">
  <p:cSld name="Generated (h7a9df8e58baa8329_14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5"/>
          <p:cNvGrpSpPr/>
          <p:nvPr/>
        </p:nvGrpSpPr>
        <p:grpSpPr>
          <a:xfrm>
            <a:off x="457200" y="457200"/>
            <a:ext cx="8229600" cy="4229100"/>
            <a:chOff x="457200" y="457200"/>
            <a:chExt cx="8229600" cy="4229100"/>
          </a:xfrm>
        </p:grpSpPr>
        <p:sp>
          <p:nvSpPr>
            <p:cNvPr id="57" name="Google Shape;57;p15"/>
            <p:cNvSpPr/>
            <p:nvPr/>
          </p:nvSpPr>
          <p:spPr>
            <a:xfrm>
              <a:off x="457200" y="4572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 flipH="1">
              <a:off x="8591400" y="4572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 flipH="1" rot="10800000">
              <a:off x="457200" y="45909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 rot="10800000">
              <a:off x="8591400" y="45909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0" y="0"/>
                  </a:ln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457200" y="4343400"/>
              <a:ext cx="1143000" cy="762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5"/>
          <p:cNvSpPr txBox="1"/>
          <p:nvPr/>
        </p:nvSpPr>
        <p:spPr>
          <a:xfrm>
            <a:off x="914400" y="952500"/>
            <a:ext cx="7315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Hybrid TCN-BiLSTM Framework for Noise-Robust Multi-Class Motor Fault Diagnosis Using Vibration Spectrograms</a:t>
            </a:r>
            <a:endParaRPr b="1" sz="26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3619500" y="2857500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5"/>
          <p:cNvSpPr txBox="1"/>
          <p:nvPr/>
        </p:nvSpPr>
        <p:spPr>
          <a:xfrm>
            <a:off x="914400" y="3086100"/>
            <a:ext cx="7315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Anil Kadu, Anup Deshmukh, Akshad Bharate, Vivek Chaudhari, Mohan Navbade</a:t>
            </a:r>
            <a:endParaRPr b="0" sz="1300">
              <a:solidFill>
                <a:srgbClr val="1A1A1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14400" y="3543300"/>
            <a:ext cx="7315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Department of Instrumentation and Control Engineering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Vishwakarma Institute of Technology, Pune, Maharashtra, India</a:t>
            </a:r>
            <a:endParaRPr b="0" sz="11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1" name="Google Shape;71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" name="Google Shape;72;p16"/>
            <p:cNvGrpSpPr/>
            <p:nvPr/>
          </p:nvGrpSpPr>
          <p:grpSpPr>
            <a:xfrm>
              <a:off x="457200" y="1047750"/>
              <a:ext cx="8229600" cy="0"/>
              <a:chOff x="0" y="0"/>
              <a:chExt cx="8229600" cy="0"/>
            </a:xfrm>
          </p:grpSpPr>
          <p:cxnSp>
            <p:nvCxnSpPr>
              <p:cNvPr id="73" name="Google Shape;73;p16"/>
              <p:cNvCxnSpPr/>
              <p:nvPr/>
            </p:nvCxnSpPr>
            <p:spPr>
              <a:xfrm>
                <a:off x="0" y="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6"/>
              <p:cNvCxnSpPr/>
              <p:nvPr/>
            </p:nvCxnSpPr>
            <p:spPr>
              <a:xfrm>
                <a:off x="0" y="0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75" name="Google Shape;75;p16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Bridging the Gap Between Laboratory Diagnostics and Industrial Realities</a:t>
            </a:r>
            <a:endParaRPr b="1" sz="182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6" name="Google Shape;76;p16"/>
          <p:cNvGrpSpPr/>
          <p:nvPr/>
        </p:nvGrpSpPr>
        <p:grpSpPr>
          <a:xfrm>
            <a:off x="457200" y="1238250"/>
            <a:ext cx="8229600" cy="666900"/>
            <a:chOff x="0" y="0"/>
            <a:chExt cx="8229600" cy="666900"/>
          </a:xfrm>
        </p:grpSpPr>
        <p:sp>
          <p:nvSpPr>
            <p:cNvPr id="77" name="Google Shape;77;p16"/>
            <p:cNvSpPr/>
            <p:nvPr/>
          </p:nvSpPr>
          <p:spPr>
            <a:xfrm>
              <a:off x="0" y="0"/>
              <a:ext cx="8229600" cy="6669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>
              <a:off x="0" y="0"/>
              <a:ext cx="38100" cy="6669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 txBox="1"/>
            <p:nvPr/>
          </p:nvSpPr>
          <p:spPr>
            <a:xfrm>
              <a:off x="228600" y="95250"/>
              <a:ext cx="1143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96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rPr>
                <a:t>~70%</a:t>
              </a:r>
              <a:endParaRPr b="1" sz="2960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1428750" y="95250"/>
              <a:ext cx="6572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A1A1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Electric motors consume roughly 70% of total industrial electricity usage in the US. Unexpected failures cause severe productivity losses and soaring maintenance costs.</a:t>
              </a:r>
              <a:endParaRPr b="0" sz="1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81" name="Google Shape;81;p16"/>
          <p:cNvGrpSpPr/>
          <p:nvPr/>
        </p:nvGrpSpPr>
        <p:grpSpPr>
          <a:xfrm>
            <a:off x="457200" y="2143125"/>
            <a:ext cx="8229600" cy="1905000"/>
            <a:chOff x="0" y="0"/>
            <a:chExt cx="8229600" cy="1905000"/>
          </a:xfrm>
        </p:grpSpPr>
        <p:sp>
          <p:nvSpPr>
            <p:cNvPr id="82" name="Google Shape;82;p16"/>
            <p:cNvSpPr txBox="1"/>
            <p:nvPr/>
          </p:nvSpPr>
          <p:spPr>
            <a:xfrm>
              <a:off x="0" y="0"/>
              <a:ext cx="3962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A1A1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Controlled Laboratory Diagnostics</a:t>
              </a:r>
              <a:endParaRPr b="0" sz="16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Current data-driven deep learning models perform exceptionally well in controlled laboratory settings under standardized operating conditions and constant loads.</a:t>
              </a:r>
              <a:endParaRPr b="0" sz="12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3" name="Google Shape;83;p16"/>
            <p:cNvCxnSpPr/>
            <p:nvPr/>
          </p:nvCxnSpPr>
          <p:spPr>
            <a:xfrm>
              <a:off x="4114800" y="0"/>
              <a:ext cx="0" cy="1905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" name="Google Shape;84;p16"/>
            <p:cNvSpPr txBox="1"/>
            <p:nvPr/>
          </p:nvSpPr>
          <p:spPr>
            <a:xfrm>
              <a:off x="4267200" y="0"/>
              <a:ext cx="3962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56B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Real-World Industrial Challenges</a:t>
              </a:r>
              <a:endParaRPr b="0" sz="1600">
                <a:solidFill>
                  <a:srgbClr val="0056B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Models frequently fail when deployed in real-world environments due to varying load conditions, significant background operational noise, and complex overlapping spectra from simultaneous compound faults.</a:t>
              </a:r>
              <a:endParaRPr b="0" sz="12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457200" y="4191000"/>
            <a:ext cx="8229600" cy="571500"/>
            <a:chOff x="0" y="0"/>
            <a:chExt cx="8229600" cy="571500"/>
          </a:xfrm>
        </p:grpSpPr>
        <p:sp>
          <p:nvSpPr>
            <p:cNvPr id="86" name="Google Shape;86;p16"/>
            <p:cNvSpPr/>
            <p:nvPr/>
          </p:nvSpPr>
          <p:spPr>
            <a:xfrm>
              <a:off x="0" y="0"/>
              <a:ext cx="8229600" cy="5715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228600" y="114300"/>
              <a:ext cx="7772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rPr>
                <a:t>Our Focus:</a:t>
              </a:r>
              <a:r>
                <a:rPr b="0" lang="en" sz="1110">
                  <a:solidFill>
                    <a:srgbClr val="1A1A1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Our work addresses this critical gap by prioritizing realistic noise robustness in deep learning architectures for reliable industrial deployment.</a:t>
              </a:r>
              <a:endParaRPr b="0" sz="111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7"/>
          <p:cNvGrpSpPr/>
          <p:nvPr/>
        </p:nvGrpSpPr>
        <p:grpSpPr>
          <a:xfrm>
            <a:off x="457200" y="1047750"/>
            <a:ext cx="8229600" cy="0"/>
            <a:chOff x="0" y="0"/>
            <a:chExt cx="8229600" cy="0"/>
          </a:xfrm>
        </p:grpSpPr>
        <p:cxnSp>
          <p:nvCxnSpPr>
            <p:cNvPr id="94" name="Google Shape;94;p17"/>
            <p:cNvCxnSpPr/>
            <p:nvPr/>
          </p:nvCxnSpPr>
          <p:spPr>
            <a:xfrm>
              <a:off x="0" y="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" name="Google Shape;95;p17"/>
            <p:cNvCxnSpPr/>
            <p:nvPr/>
          </p:nvCxnSpPr>
          <p:spPr>
            <a:xfrm>
              <a:off x="0" y="0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56B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" name="Google Shape;96;p17"/>
          <p:cNvSpPr txBox="1"/>
          <p:nvPr/>
        </p:nvSpPr>
        <p:spPr>
          <a:xfrm>
            <a:off x="457200" y="4572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Three Pillars for Robust Motor Fault Diagnosis</a:t>
            </a:r>
            <a:endParaRPr b="1" sz="26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7" name="Google Shape;97;p17"/>
          <p:cNvGrpSpPr/>
          <p:nvPr/>
        </p:nvGrpSpPr>
        <p:grpSpPr>
          <a:xfrm>
            <a:off x="457200" y="1333500"/>
            <a:ext cx="8229600" cy="3162300"/>
            <a:chOff x="0" y="0"/>
            <a:chExt cx="8229600" cy="3162300"/>
          </a:xfrm>
        </p:grpSpPr>
        <p:grpSp>
          <p:nvGrpSpPr>
            <p:cNvPr id="98" name="Google Shape;98;p17"/>
            <p:cNvGrpSpPr/>
            <p:nvPr/>
          </p:nvGrpSpPr>
          <p:grpSpPr>
            <a:xfrm>
              <a:off x="0" y="0"/>
              <a:ext cx="8229600" cy="952500"/>
              <a:chOff x="0" y="0"/>
              <a:chExt cx="8229600" cy="952500"/>
            </a:xfrm>
          </p:grpSpPr>
          <p:sp>
            <p:nvSpPr>
              <p:cNvPr id="99" name="Google Shape;99;p17"/>
              <p:cNvSpPr txBox="1"/>
              <p:nvPr/>
            </p:nvSpPr>
            <p:spPr>
              <a:xfrm>
                <a:off x="0" y="381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rgbClr val="0056B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account_tree</a:t>
                </a:r>
                <a:endParaRPr/>
              </a:p>
            </p:txBody>
          </p:sp>
          <p:sp>
            <p:nvSpPr>
              <p:cNvPr id="100" name="Google Shape;100;p17"/>
              <p:cNvSpPr txBox="1"/>
              <p:nvPr/>
            </p:nvSpPr>
            <p:spPr>
              <a:xfrm>
                <a:off x="457200" y="0"/>
                <a:ext cx="7772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056B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Hybrid Architecture</a:t>
                </a:r>
                <a:endParaRPr b="0" sz="1600">
                  <a:solidFill>
                    <a:srgbClr val="0056B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We introduce a novel TCN-BiLSTM framework that combines multi-scale temporal feature extraction with bidirectional sequence modeling for four-class fault diagnosis.</a:t>
                </a:r>
                <a:endParaRPr b="0" sz="1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01" name="Google Shape;101;p17"/>
              <p:cNvCxnSpPr/>
              <p:nvPr/>
            </p:nvCxnSpPr>
            <p:spPr>
              <a:xfrm>
                <a:off x="457200" y="914400"/>
                <a:ext cx="777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4F5F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17"/>
            <p:cNvGrpSpPr/>
            <p:nvPr/>
          </p:nvGrpSpPr>
          <p:grpSpPr>
            <a:xfrm>
              <a:off x="0" y="1104900"/>
              <a:ext cx="8229600" cy="952500"/>
              <a:chOff x="0" y="0"/>
              <a:chExt cx="8229600" cy="952500"/>
            </a:xfrm>
          </p:grpSpPr>
          <p:sp>
            <p:nvSpPr>
              <p:cNvPr id="103" name="Google Shape;103;p17"/>
              <p:cNvSpPr txBox="1"/>
              <p:nvPr/>
            </p:nvSpPr>
            <p:spPr>
              <a:xfrm>
                <a:off x="0" y="381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rgbClr val="0056B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folder_special</a:t>
                </a:r>
                <a:endParaRPr/>
              </a:p>
            </p:txBody>
          </p:sp>
          <p:sp>
            <p:nvSpPr>
              <p:cNvPr id="104" name="Google Shape;104;p17"/>
              <p:cNvSpPr txBox="1"/>
              <p:nvPr/>
            </p:nvSpPr>
            <p:spPr>
              <a:xfrm>
                <a:off x="457200" y="0"/>
                <a:ext cx="7772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056B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Strict File-Wise Partitioning</a:t>
                </a:r>
                <a:endParaRPr b="0" sz="1600">
                  <a:solidFill>
                    <a:srgbClr val="0056B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We designed a robust data splitting scheme that completely prevents inter-session information leakage, ensuring our evaluation strictly mimics actual deployment realities.</a:t>
                </a:r>
                <a:endParaRPr b="0" sz="1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105" name="Google Shape;105;p17"/>
              <p:cNvCxnSpPr/>
              <p:nvPr/>
            </p:nvCxnSpPr>
            <p:spPr>
              <a:xfrm>
                <a:off x="457200" y="914400"/>
                <a:ext cx="7772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4F5F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6" name="Google Shape;106;p17"/>
            <p:cNvGrpSpPr/>
            <p:nvPr/>
          </p:nvGrpSpPr>
          <p:grpSpPr>
            <a:xfrm>
              <a:off x="0" y="2209800"/>
              <a:ext cx="8229600" cy="952500"/>
              <a:chOff x="0" y="0"/>
              <a:chExt cx="8229600" cy="952500"/>
            </a:xfrm>
          </p:grpSpPr>
          <p:sp>
            <p:nvSpPr>
              <p:cNvPr id="107" name="Google Shape;107;p17"/>
              <p:cNvSpPr txBox="1"/>
              <p:nvPr/>
            </p:nvSpPr>
            <p:spPr>
              <a:xfrm>
                <a:off x="0" y="381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solidFill>
                      <a:srgbClr val="0056B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graphic_eq</a:t>
                </a:r>
                <a:endParaRPr/>
              </a:p>
            </p:txBody>
          </p:sp>
          <p:sp>
            <p:nvSpPr>
              <p:cNvPr id="108" name="Google Shape;108;p17"/>
              <p:cNvSpPr txBox="1"/>
              <p:nvPr/>
            </p:nvSpPr>
            <p:spPr>
              <a:xfrm>
                <a:off x="457200" y="0"/>
                <a:ext cx="77724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056B3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Realistic Noise Robustness</a:t>
                </a:r>
                <a:endParaRPr b="0" sz="1600">
                  <a:solidFill>
                    <a:srgbClr val="0056B3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We conducted a comprehensive evaluation under clean-only, noise-only, and mixed training regimes using actual recorded industrial noise rather than artificial data augmentations.</a:t>
                </a:r>
                <a:endParaRPr b="0" sz="12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SOON-PeMP Dataset &amp; Leak-Free Protocol</a:t>
            </a:r>
            <a:endParaRPr b="1" sz="2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18"/>
          <p:cNvGrpSpPr/>
          <p:nvPr/>
        </p:nvGrpSpPr>
        <p:grpSpPr>
          <a:xfrm>
            <a:off x="457200" y="1000125"/>
            <a:ext cx="8229600" cy="0"/>
            <a:chOff x="0" y="0"/>
            <a:chExt cx="8229600" cy="0"/>
          </a:xfrm>
        </p:grpSpPr>
        <p:cxnSp>
          <p:nvCxnSpPr>
            <p:cNvPr id="115" name="Google Shape;115;p18"/>
            <p:cNvCxnSpPr/>
            <p:nvPr/>
          </p:nvCxnSpPr>
          <p:spPr>
            <a:xfrm>
              <a:off x="0" y="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>
              <a:off x="0" y="0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56B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7" name="Google Shape;117;p18"/>
          <p:cNvGrpSpPr/>
          <p:nvPr/>
        </p:nvGrpSpPr>
        <p:grpSpPr>
          <a:xfrm>
            <a:off x="457200" y="1190625"/>
            <a:ext cx="8229600" cy="809700"/>
            <a:chOff x="0" y="0"/>
            <a:chExt cx="8229600" cy="809700"/>
          </a:xfrm>
        </p:grpSpPr>
        <p:sp>
          <p:nvSpPr>
            <p:cNvPr id="118" name="Google Shape;118;p18"/>
            <p:cNvSpPr/>
            <p:nvPr/>
          </p:nvSpPr>
          <p:spPr>
            <a:xfrm>
              <a:off x="0" y="0"/>
              <a:ext cx="8229600" cy="8097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 txBox="1"/>
            <p:nvPr/>
          </p:nvSpPr>
          <p:spPr>
            <a:xfrm>
              <a:off x="190500" y="114300"/>
              <a:ext cx="78486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Dataset Overview:</a:t>
              </a:r>
              <a:r>
                <a:rPr b="0" lang="en" sz="935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Utilized 30 independent recording sessions covering 4 health states (normal, mechanical failure, electrical failure, compound faults).</a:t>
              </a:r>
              <a:endParaRPr b="0" sz="93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Partitioning Strategy:</a:t>
              </a:r>
              <a:r>
                <a:rPr b="0" lang="en" sz="935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Applied strict file-wise allocation to completely eliminate data leakage across sets, avoiding random shuffling.</a:t>
              </a:r>
              <a:endParaRPr b="0" sz="935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1" name="Google Shape;121;p18"/>
          <p:cNvGrpSpPr/>
          <p:nvPr/>
        </p:nvGrpSpPr>
        <p:grpSpPr>
          <a:xfrm>
            <a:off x="457200" y="2238375"/>
            <a:ext cx="8229600" cy="2419500"/>
            <a:chOff x="0" y="0"/>
            <a:chExt cx="8229600" cy="2419500"/>
          </a:xfrm>
        </p:grpSpPr>
        <p:grpSp>
          <p:nvGrpSpPr>
            <p:cNvPr id="122" name="Google Shape;122;p18"/>
            <p:cNvGrpSpPr/>
            <p:nvPr/>
          </p:nvGrpSpPr>
          <p:grpSpPr>
            <a:xfrm>
              <a:off x="0" y="0"/>
              <a:ext cx="2552700" cy="2419500"/>
              <a:chOff x="0" y="0"/>
              <a:chExt cx="2552700" cy="2419500"/>
            </a:xfrm>
          </p:grpSpPr>
          <p:cxnSp>
            <p:nvCxnSpPr>
              <p:cNvPr id="123" name="Google Shape;123;p18"/>
              <p:cNvCxnSpPr/>
              <p:nvPr/>
            </p:nvCxnSpPr>
            <p:spPr>
              <a:xfrm>
                <a:off x="0" y="0"/>
                <a:ext cx="2552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8575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4" name="Google Shape;124;p18"/>
              <p:cNvSpPr/>
              <p:nvPr/>
            </p:nvSpPr>
            <p:spPr>
              <a:xfrm>
                <a:off x="0" y="114300"/>
                <a:ext cx="2552700" cy="762000"/>
              </a:xfrm>
              <a:prstGeom prst="rect">
                <a:avLst/>
              </a:prstGeom>
              <a:solidFill>
                <a:srgbClr val="F4F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8"/>
              <p:cNvSpPr txBox="1"/>
              <p:nvPr/>
            </p:nvSpPr>
            <p:spPr>
              <a:xfrm>
                <a:off x="152400" y="190500"/>
                <a:ext cx="22479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96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70%</a:t>
                </a:r>
                <a:endParaRPr b="1" sz="296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Training Partition</a:t>
                </a:r>
                <a:endParaRPr b="0" sz="925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26" name="Google Shape;126;p18"/>
              <p:cNvSpPr txBox="1"/>
              <p:nvPr/>
            </p:nvSpPr>
            <p:spPr>
              <a:xfrm>
                <a:off x="0" y="990600"/>
                <a:ext cx="25527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Training Set</a:t>
                </a:r>
                <a:endParaRPr b="0" sz="14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Allocation:</a:t>
                </a:r>
                <a:r>
                  <a:rPr b="0" lang="en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21 Recording Files</a:t>
                </a:r>
                <a:endParaRPr b="0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Volume:</a:t>
                </a:r>
                <a:r>
                  <a:rPr b="0" lang="en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1,215 Instances</a:t>
                </a:r>
                <a:endParaRPr b="0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Isolated recording sessions strictly dedicated to model training.</a:t>
                </a:r>
                <a:endParaRPr b="0" sz="10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7" name="Google Shape;127;p18"/>
            <p:cNvGrpSpPr/>
            <p:nvPr/>
          </p:nvGrpSpPr>
          <p:grpSpPr>
            <a:xfrm>
              <a:off x="2838450" y="0"/>
              <a:ext cx="2552700" cy="2419500"/>
              <a:chOff x="0" y="0"/>
              <a:chExt cx="2552700" cy="2419500"/>
            </a:xfrm>
          </p:grpSpPr>
          <p:cxnSp>
            <p:nvCxnSpPr>
              <p:cNvPr id="128" name="Google Shape;128;p18"/>
              <p:cNvCxnSpPr/>
              <p:nvPr/>
            </p:nvCxnSpPr>
            <p:spPr>
              <a:xfrm>
                <a:off x="0" y="0"/>
                <a:ext cx="2552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8575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9" name="Google Shape;129;p18"/>
              <p:cNvSpPr/>
              <p:nvPr/>
            </p:nvSpPr>
            <p:spPr>
              <a:xfrm>
                <a:off x="0" y="114300"/>
                <a:ext cx="2552700" cy="762000"/>
              </a:xfrm>
              <a:prstGeom prst="rect">
                <a:avLst/>
              </a:prstGeom>
              <a:solidFill>
                <a:srgbClr val="F4F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8"/>
              <p:cNvSpPr txBox="1"/>
              <p:nvPr/>
            </p:nvSpPr>
            <p:spPr>
              <a:xfrm>
                <a:off x="152400" y="190500"/>
                <a:ext cx="22479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96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15%</a:t>
                </a:r>
                <a:endParaRPr b="1" sz="296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Validation Partition</a:t>
                </a:r>
                <a:endParaRPr b="0" sz="925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31" name="Google Shape;131;p18"/>
              <p:cNvSpPr txBox="1"/>
              <p:nvPr/>
            </p:nvSpPr>
            <p:spPr>
              <a:xfrm>
                <a:off x="0" y="990600"/>
                <a:ext cx="25527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Validation Set</a:t>
                </a:r>
                <a:endParaRPr b="0" sz="14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Allocation:</a:t>
                </a:r>
                <a:r>
                  <a:rPr b="0" lang="en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5 Recording Files</a:t>
                </a:r>
                <a:endParaRPr b="0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Volume:</a:t>
                </a:r>
                <a:r>
                  <a:rPr b="0" lang="en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246 Instances</a:t>
                </a:r>
                <a:endParaRPr b="0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Independent sessions utilized strictly for hyperparameter tuning.</a:t>
                </a:r>
                <a:endParaRPr b="0" sz="10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2" name="Google Shape;132;p18"/>
            <p:cNvGrpSpPr/>
            <p:nvPr/>
          </p:nvGrpSpPr>
          <p:grpSpPr>
            <a:xfrm>
              <a:off x="5676900" y="0"/>
              <a:ext cx="2552700" cy="2419500"/>
              <a:chOff x="0" y="0"/>
              <a:chExt cx="2552700" cy="2419500"/>
            </a:xfrm>
          </p:grpSpPr>
          <p:cxnSp>
            <p:nvCxnSpPr>
              <p:cNvPr id="133" name="Google Shape;133;p18"/>
              <p:cNvCxnSpPr/>
              <p:nvPr/>
            </p:nvCxnSpPr>
            <p:spPr>
              <a:xfrm>
                <a:off x="0" y="0"/>
                <a:ext cx="2552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8575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34" name="Google Shape;134;p18"/>
              <p:cNvSpPr/>
              <p:nvPr/>
            </p:nvSpPr>
            <p:spPr>
              <a:xfrm>
                <a:off x="0" y="114300"/>
                <a:ext cx="2552700" cy="762000"/>
              </a:xfrm>
              <a:prstGeom prst="rect">
                <a:avLst/>
              </a:prstGeom>
              <a:solidFill>
                <a:srgbClr val="F4F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8"/>
              <p:cNvSpPr txBox="1"/>
              <p:nvPr/>
            </p:nvSpPr>
            <p:spPr>
              <a:xfrm>
                <a:off x="152400" y="190500"/>
                <a:ext cx="22479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96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15%</a:t>
                </a:r>
                <a:endParaRPr b="1" sz="296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25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Testing Partition</a:t>
                </a:r>
                <a:endParaRPr b="0" sz="925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36" name="Google Shape;136;p18"/>
              <p:cNvSpPr txBox="1"/>
              <p:nvPr/>
            </p:nvSpPr>
            <p:spPr>
              <a:xfrm>
                <a:off x="0" y="990600"/>
                <a:ext cx="25527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Testing Set</a:t>
                </a:r>
                <a:endParaRPr b="0" sz="14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Allocation:</a:t>
                </a:r>
                <a:r>
                  <a:rPr b="0" lang="en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4 Recording Files</a:t>
                </a:r>
                <a:endParaRPr b="0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• Volume:</a:t>
                </a:r>
                <a:r>
                  <a:rPr b="0" lang="en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rPr>
                  <a:t> 216 Instances</a:t>
                </a:r>
                <a:endParaRPr b="0" sz="11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Completely unseen recording sessions for unbiased evaluation.</a:t>
                </a:r>
                <a:endParaRPr b="0" sz="10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137" name="Google Shape;137;p18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3" name="Google Shape;143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4" name="Google Shape;144;p19"/>
            <p:cNvGrpSpPr/>
            <p:nvPr/>
          </p:nvGrpSpPr>
          <p:grpSpPr>
            <a:xfrm>
              <a:off x="457200" y="1047750"/>
              <a:ext cx="8229600" cy="0"/>
              <a:chOff x="0" y="0"/>
              <a:chExt cx="8229600" cy="0"/>
            </a:xfrm>
          </p:grpSpPr>
          <p:cxnSp>
            <p:nvCxnSpPr>
              <p:cNvPr id="145" name="Google Shape;145;p19"/>
              <p:cNvCxnSpPr/>
              <p:nvPr/>
            </p:nvCxnSpPr>
            <p:spPr>
              <a:xfrm>
                <a:off x="0" y="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9"/>
              <p:cNvCxnSpPr/>
              <p:nvPr/>
            </p:nvCxnSpPr>
            <p:spPr>
              <a:xfrm>
                <a:off x="0" y="0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7" name="Google Shape;147;p19"/>
          <p:cNvSpPr txBox="1"/>
          <p:nvPr/>
        </p:nvSpPr>
        <p:spPr>
          <a:xfrm>
            <a:off x="457200" y="42862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Extracting Joint Time-Frequency Features via STFT</a:t>
            </a:r>
            <a:endParaRPr b="1" sz="2405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457200" y="1285875"/>
            <a:ext cx="4953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Motor vibration signals are highly non-stationary. To capture these complex temporal patterns, raw vibration sequences are converted into normalized Short-Time Fourier Transform (STFT) spectrograms, preserving both time and frequency information for downstream analysis.</a:t>
            </a:r>
            <a:endParaRPr b="0" sz="12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9" name="Google Shape;149;p19"/>
          <p:cNvGrpSpPr/>
          <p:nvPr/>
        </p:nvGrpSpPr>
        <p:grpSpPr>
          <a:xfrm>
            <a:off x="5638800" y="1238250"/>
            <a:ext cx="3048000" cy="1095300"/>
            <a:chOff x="0" y="0"/>
            <a:chExt cx="3048000" cy="1095300"/>
          </a:xfrm>
        </p:grpSpPr>
        <p:sp>
          <p:nvSpPr>
            <p:cNvPr id="150" name="Google Shape;150;p19"/>
            <p:cNvSpPr/>
            <p:nvPr/>
          </p:nvSpPr>
          <p:spPr>
            <a:xfrm>
              <a:off x="0" y="0"/>
              <a:ext cx="3048000" cy="1095300"/>
            </a:xfrm>
            <a:prstGeom prst="rect">
              <a:avLst/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0" y="0"/>
              <a:ext cx="38100" cy="10953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9"/>
            <p:cNvSpPr txBox="1"/>
            <p:nvPr/>
          </p:nvSpPr>
          <p:spPr>
            <a:xfrm>
              <a:off x="152400" y="133350"/>
              <a:ext cx="2743200" cy="8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STFT Parameter Setup</a:t>
              </a:r>
              <a:endParaRPr b="1" sz="1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Window:</a:t>
              </a:r>
              <a:r>
                <a:rPr b="0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Hann (1,024 samples)</a:t>
              </a:r>
              <a:endParaRPr b="0" sz="10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Overlap:</a:t>
              </a:r>
              <a:r>
                <a:rPr b="0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50% shift</a:t>
              </a:r>
              <a:endParaRPr b="0" sz="10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Sampling Freq:</a:t>
              </a:r>
              <a:r>
                <a:rPr b="0" lang="en" sz="105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50 kHz</a:t>
              </a:r>
              <a:endParaRPr b="0" sz="105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3" name="Google Shape;153;p19"/>
          <p:cNvSpPr txBox="1"/>
          <p:nvPr/>
        </p:nvSpPr>
        <p:spPr>
          <a:xfrm>
            <a:off x="457200" y="2571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56B3"/>
                </a:solidFill>
                <a:latin typeface="Inter Medium"/>
                <a:ea typeface="Inter Medium"/>
                <a:cs typeface="Inter Medium"/>
                <a:sym typeface="Inter Medium"/>
              </a:rPr>
              <a:t>STFT Data Processing Pipeline</a:t>
            </a:r>
            <a:endParaRPr b="0" sz="1300">
              <a:solidFill>
                <a:srgbClr val="0056B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54" name="Google Shape;154;p19"/>
          <p:cNvGrpSpPr/>
          <p:nvPr/>
        </p:nvGrpSpPr>
        <p:grpSpPr>
          <a:xfrm>
            <a:off x="457200" y="2952750"/>
            <a:ext cx="8229600" cy="952500"/>
            <a:chOff x="0" y="0"/>
            <a:chExt cx="8229600" cy="952500"/>
          </a:xfrm>
        </p:grpSpPr>
        <p:grpSp>
          <p:nvGrpSpPr>
            <p:cNvPr id="155" name="Google Shape;155;p19"/>
            <p:cNvGrpSpPr/>
            <p:nvPr/>
          </p:nvGrpSpPr>
          <p:grpSpPr>
            <a:xfrm>
              <a:off x="0" y="0"/>
              <a:ext cx="1714500" cy="952500"/>
              <a:chOff x="0" y="0"/>
              <a:chExt cx="1714500" cy="952500"/>
            </a:xfrm>
          </p:grpSpPr>
          <p:sp>
            <p:nvSpPr>
              <p:cNvPr id="156" name="Google Shape;156;p19"/>
              <p:cNvSpPr/>
              <p:nvPr/>
            </p:nvSpPr>
            <p:spPr>
              <a:xfrm>
                <a:off x="0" y="0"/>
                <a:ext cx="1714500" cy="9525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9"/>
              <p:cNvSpPr txBox="1"/>
              <p:nvPr/>
            </p:nvSpPr>
            <p:spPr>
              <a:xfrm>
                <a:off x="95250" y="95250"/>
                <a:ext cx="152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Step 01</a:t>
                </a:r>
                <a:endParaRPr b="1" sz="10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4A4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Raw Vibration Signal</a:t>
                </a:r>
                <a:endParaRPr b="0" sz="1100">
                  <a:solidFill>
                    <a:srgbClr val="4A4A4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50 kHz sampling rate input sequences</a:t>
                </a:r>
                <a:endParaRPr b="0" sz="95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8" name="Google Shape;158;p19"/>
            <p:cNvGrpSpPr/>
            <p:nvPr/>
          </p:nvGrpSpPr>
          <p:grpSpPr>
            <a:xfrm>
              <a:off x="1790700" y="438150"/>
              <a:ext cx="342900" cy="76200"/>
              <a:chOff x="0" y="-38100"/>
              <a:chExt cx="342900" cy="76200"/>
            </a:xfrm>
          </p:grpSpPr>
          <p:cxnSp>
            <p:nvCxnSpPr>
              <p:cNvPr id="159" name="Google Shape;159;p19"/>
              <p:cNvCxnSpPr/>
              <p:nvPr/>
            </p:nvCxnSpPr>
            <p:spPr>
              <a:xfrm>
                <a:off x="0" y="0"/>
                <a:ext cx="266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0" name="Google Shape;160;p19"/>
              <p:cNvSpPr/>
              <p:nvPr/>
            </p:nvSpPr>
            <p:spPr>
              <a:xfrm>
                <a:off x="266700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19"/>
            <p:cNvGrpSpPr/>
            <p:nvPr/>
          </p:nvGrpSpPr>
          <p:grpSpPr>
            <a:xfrm>
              <a:off x="2209800" y="0"/>
              <a:ext cx="1714500" cy="952500"/>
              <a:chOff x="0" y="0"/>
              <a:chExt cx="1714500" cy="952500"/>
            </a:xfrm>
          </p:grpSpPr>
          <p:sp>
            <p:nvSpPr>
              <p:cNvPr id="162" name="Google Shape;162;p19"/>
              <p:cNvSpPr/>
              <p:nvPr/>
            </p:nvSpPr>
            <p:spPr>
              <a:xfrm>
                <a:off x="0" y="0"/>
                <a:ext cx="1714500" cy="9525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9"/>
              <p:cNvSpPr txBox="1"/>
              <p:nvPr/>
            </p:nvSpPr>
            <p:spPr>
              <a:xfrm>
                <a:off x="95250" y="95250"/>
                <a:ext cx="152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Step 02</a:t>
                </a:r>
                <a:endParaRPr b="1" sz="10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4A4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STFT Resolution</a:t>
                </a:r>
                <a:endParaRPr b="0" sz="1100">
                  <a:solidFill>
                    <a:srgbClr val="4A4A4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48.8 Hz res. resolves 50–300 Hz harmonics</a:t>
                </a:r>
                <a:endParaRPr b="0" sz="95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4" name="Google Shape;164;p19"/>
            <p:cNvGrpSpPr/>
            <p:nvPr/>
          </p:nvGrpSpPr>
          <p:grpSpPr>
            <a:xfrm>
              <a:off x="4000500" y="438150"/>
              <a:ext cx="342900" cy="76200"/>
              <a:chOff x="0" y="-38100"/>
              <a:chExt cx="342900" cy="76200"/>
            </a:xfrm>
          </p:grpSpPr>
          <p:cxnSp>
            <p:nvCxnSpPr>
              <p:cNvPr id="165" name="Google Shape;165;p19"/>
              <p:cNvCxnSpPr/>
              <p:nvPr/>
            </p:nvCxnSpPr>
            <p:spPr>
              <a:xfrm>
                <a:off x="0" y="0"/>
                <a:ext cx="266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6" name="Google Shape;166;p19"/>
              <p:cNvSpPr/>
              <p:nvPr/>
            </p:nvSpPr>
            <p:spPr>
              <a:xfrm>
                <a:off x="266700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p19"/>
            <p:cNvGrpSpPr/>
            <p:nvPr/>
          </p:nvGrpSpPr>
          <p:grpSpPr>
            <a:xfrm>
              <a:off x="4419600" y="0"/>
              <a:ext cx="1714500" cy="952500"/>
              <a:chOff x="0" y="0"/>
              <a:chExt cx="1714500" cy="952500"/>
            </a:xfrm>
          </p:grpSpPr>
          <p:sp>
            <p:nvSpPr>
              <p:cNvPr id="168" name="Google Shape;168;p19"/>
              <p:cNvSpPr/>
              <p:nvPr/>
            </p:nvSpPr>
            <p:spPr>
              <a:xfrm>
                <a:off x="0" y="0"/>
                <a:ext cx="1714500" cy="952500"/>
              </a:xfrm>
              <a:prstGeom prst="rect">
                <a:avLst/>
              </a:prstGeom>
              <a:solidFill>
                <a:srgbClr val="FFFFFF"/>
              </a:solidFill>
              <a:ln cap="flat" cmpd="sng" w="1430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9"/>
              <p:cNvSpPr txBox="1"/>
              <p:nvPr/>
            </p:nvSpPr>
            <p:spPr>
              <a:xfrm>
                <a:off x="95250" y="95250"/>
                <a:ext cx="152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Step 03</a:t>
                </a:r>
                <a:endParaRPr b="1" sz="10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A4A4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dB Scaling &amp; Norm.</a:t>
                </a:r>
                <a:endParaRPr b="0" sz="1100">
                  <a:solidFill>
                    <a:srgbClr val="4A4A4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Logarithmic decibel conversion</a:t>
                </a:r>
                <a:endParaRPr b="0" sz="95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0" name="Google Shape;170;p19"/>
            <p:cNvGrpSpPr/>
            <p:nvPr/>
          </p:nvGrpSpPr>
          <p:grpSpPr>
            <a:xfrm>
              <a:off x="6210300" y="438150"/>
              <a:ext cx="342900" cy="76200"/>
              <a:chOff x="0" y="-38100"/>
              <a:chExt cx="342900" cy="76200"/>
            </a:xfrm>
          </p:grpSpPr>
          <p:cxnSp>
            <p:nvCxnSpPr>
              <p:cNvPr id="171" name="Google Shape;171;p19"/>
              <p:cNvCxnSpPr/>
              <p:nvPr/>
            </p:nvCxnSpPr>
            <p:spPr>
              <a:xfrm>
                <a:off x="0" y="0"/>
                <a:ext cx="266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2" name="Google Shape;172;p19"/>
              <p:cNvSpPr/>
              <p:nvPr/>
            </p:nvSpPr>
            <p:spPr>
              <a:xfrm>
                <a:off x="266700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p19"/>
            <p:cNvGrpSpPr/>
            <p:nvPr/>
          </p:nvGrpSpPr>
          <p:grpSpPr>
            <a:xfrm>
              <a:off x="6629400" y="0"/>
              <a:ext cx="1600200" cy="952500"/>
              <a:chOff x="0" y="0"/>
              <a:chExt cx="1600200" cy="952500"/>
            </a:xfrm>
          </p:grpSpPr>
          <p:sp>
            <p:nvSpPr>
              <p:cNvPr id="174" name="Google Shape;174;p19"/>
              <p:cNvSpPr/>
              <p:nvPr/>
            </p:nvSpPr>
            <p:spPr>
              <a:xfrm>
                <a:off x="0" y="0"/>
                <a:ext cx="1600200" cy="9525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9"/>
              <p:cNvSpPr txBox="1"/>
              <p:nvPr/>
            </p:nvSpPr>
            <p:spPr>
              <a:xfrm>
                <a:off x="95250" y="95250"/>
                <a:ext cx="14097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Output</a:t>
                </a:r>
                <a:endParaRPr b="1" sz="10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511 × 32 Map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Fixed Time-Freq feature matrix</a:t>
                </a:r>
                <a:endParaRPr b="0" sz="95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176" name="Google Shape;176;p19"/>
          <p:cNvSpPr txBox="1"/>
          <p:nvPr/>
        </p:nvSpPr>
        <p:spPr>
          <a:xfrm>
            <a:off x="457200" y="4429125"/>
            <a:ext cx="8229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 Note: The selected window size prevents loss of temporal resolution while maintaining strict harmonic isolation required for fault diagnostics.</a:t>
            </a:r>
            <a:endParaRPr b="0" sz="95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" name="Google Shape;183;p20"/>
            <p:cNvGrpSpPr/>
            <p:nvPr/>
          </p:nvGrpSpPr>
          <p:grpSpPr>
            <a:xfrm>
              <a:off x="457200" y="1047750"/>
              <a:ext cx="8229600" cy="0"/>
              <a:chOff x="0" y="0"/>
              <a:chExt cx="8229600" cy="0"/>
            </a:xfrm>
          </p:grpSpPr>
          <p:cxnSp>
            <p:nvCxnSpPr>
              <p:cNvPr id="184" name="Google Shape;184;p20"/>
              <p:cNvCxnSpPr/>
              <p:nvPr/>
            </p:nvCxnSpPr>
            <p:spPr>
              <a:xfrm>
                <a:off x="0" y="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0"/>
              <p:cNvCxnSpPr/>
              <p:nvPr/>
            </p:nvCxnSpPr>
            <p:spPr>
              <a:xfrm>
                <a:off x="0" y="0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86" name="Google Shape;186;p20"/>
          <p:cNvSpPr txBox="1"/>
          <p:nvPr/>
        </p:nvSpPr>
        <p:spPr>
          <a:xfrm>
            <a:off x="457200" y="457200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1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Lightweight Hybrid TCN-BiLSTM Network Architecture</a:t>
            </a:r>
            <a:endParaRPr b="1" sz="221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457200" y="1285875"/>
            <a:ext cx="8229750" cy="1504950"/>
            <a:chOff x="0" y="0"/>
            <a:chExt cx="8229750" cy="1504950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0" y="0"/>
              <a:ext cx="1714500" cy="1047900"/>
              <a:chOff x="0" y="0"/>
              <a:chExt cx="1714500" cy="10479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0" y="0"/>
                <a:ext cx="17145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0" y="0"/>
                <a:ext cx="1714500" cy="228600"/>
              </a:xfrm>
              <a:prstGeom prst="rect">
                <a:avLst/>
              </a:prstGeom>
              <a:solidFill>
                <a:srgbClr val="F4F5F7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0"/>
              <p:cNvSpPr txBox="1"/>
              <p:nvPr/>
            </p:nvSpPr>
            <p:spPr>
              <a:xfrm>
                <a:off x="47625" y="19050"/>
                <a:ext cx="1619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Input Layer</a:t>
                </a:r>
                <a:endParaRPr b="1" sz="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20"/>
              <p:cNvSpPr txBox="1"/>
              <p:nvPr/>
            </p:nvSpPr>
            <p:spPr>
              <a:xfrm>
                <a:off x="95250" y="304800"/>
                <a:ext cx="1524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STFT Input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511-D Spectral</a:t>
                </a:r>
                <a:endParaRPr b="0" sz="10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32-Frame Sequence</a:t>
                </a:r>
                <a:endParaRPr b="0" sz="10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3" name="Google Shape;193;p20"/>
            <p:cNvGrpSpPr/>
            <p:nvPr/>
          </p:nvGrpSpPr>
          <p:grpSpPr>
            <a:xfrm>
              <a:off x="1771650" y="485775"/>
              <a:ext cx="285750" cy="76200"/>
              <a:chOff x="0" y="-38100"/>
              <a:chExt cx="285750" cy="76200"/>
            </a:xfrm>
          </p:grpSpPr>
          <p:cxnSp>
            <p:nvCxnSpPr>
              <p:cNvPr id="194" name="Google Shape;194;p20"/>
              <p:cNvCxnSpPr/>
              <p:nvPr/>
            </p:nvCxnSpPr>
            <p:spPr>
              <a:xfrm>
                <a:off x="0" y="0"/>
                <a:ext cx="209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95" name="Google Shape;195;p20"/>
              <p:cNvSpPr/>
              <p:nvPr/>
            </p:nvSpPr>
            <p:spPr>
              <a:xfrm>
                <a:off x="209550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6" name="Google Shape;196;p20"/>
            <p:cNvGrpSpPr/>
            <p:nvPr/>
          </p:nvGrpSpPr>
          <p:grpSpPr>
            <a:xfrm>
              <a:off x="2114550" y="0"/>
              <a:ext cx="1714500" cy="1047900"/>
              <a:chOff x="0" y="0"/>
              <a:chExt cx="1714500" cy="1047900"/>
            </a:xfrm>
          </p:grpSpPr>
          <p:sp>
            <p:nvSpPr>
              <p:cNvPr id="197" name="Google Shape;197;p20"/>
              <p:cNvSpPr/>
              <p:nvPr/>
            </p:nvSpPr>
            <p:spPr>
              <a:xfrm>
                <a:off x="0" y="0"/>
                <a:ext cx="17145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0" y="0"/>
                <a:ext cx="1714500" cy="228600"/>
              </a:xfrm>
              <a:prstGeom prst="rect">
                <a:avLst/>
              </a:prstGeom>
              <a:solidFill>
                <a:srgbClr val="F4F5F7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0"/>
              <p:cNvSpPr txBox="1"/>
              <p:nvPr/>
            </p:nvSpPr>
            <p:spPr>
              <a:xfrm>
                <a:off x="47625" y="19050"/>
                <a:ext cx="1619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Feature Extraction</a:t>
                </a:r>
                <a:endParaRPr b="1" sz="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95250" y="304800"/>
                <a:ext cx="1524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Dilated TCN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Dilation: 1, 2, 4</a:t>
                </a:r>
                <a:endParaRPr b="0" sz="10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Multi-scale Features</a:t>
                </a:r>
                <a:endParaRPr b="0" sz="10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1" name="Google Shape;201;p20"/>
            <p:cNvGrpSpPr/>
            <p:nvPr/>
          </p:nvGrpSpPr>
          <p:grpSpPr>
            <a:xfrm>
              <a:off x="3886200" y="485775"/>
              <a:ext cx="285750" cy="76200"/>
              <a:chOff x="0" y="-38100"/>
              <a:chExt cx="285750" cy="76200"/>
            </a:xfrm>
          </p:grpSpPr>
          <p:cxnSp>
            <p:nvCxnSpPr>
              <p:cNvPr id="202" name="Google Shape;202;p20"/>
              <p:cNvCxnSpPr/>
              <p:nvPr/>
            </p:nvCxnSpPr>
            <p:spPr>
              <a:xfrm>
                <a:off x="0" y="0"/>
                <a:ext cx="209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03" name="Google Shape;203;p20"/>
              <p:cNvSpPr/>
              <p:nvPr/>
            </p:nvSpPr>
            <p:spPr>
              <a:xfrm>
                <a:off x="209550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" name="Google Shape;204;p20"/>
            <p:cNvGrpSpPr/>
            <p:nvPr/>
          </p:nvGrpSpPr>
          <p:grpSpPr>
            <a:xfrm>
              <a:off x="4229100" y="0"/>
              <a:ext cx="1714500" cy="1047900"/>
              <a:chOff x="0" y="0"/>
              <a:chExt cx="1714500" cy="1047900"/>
            </a:xfrm>
          </p:grpSpPr>
          <p:sp>
            <p:nvSpPr>
              <p:cNvPr id="205" name="Google Shape;205;p20"/>
              <p:cNvSpPr/>
              <p:nvPr/>
            </p:nvSpPr>
            <p:spPr>
              <a:xfrm>
                <a:off x="0" y="0"/>
                <a:ext cx="1714500" cy="1047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>
                <a:off x="0" y="0"/>
                <a:ext cx="1714500" cy="228600"/>
              </a:xfrm>
              <a:prstGeom prst="rect">
                <a:avLst/>
              </a:prstGeom>
              <a:solidFill>
                <a:srgbClr val="F4F5F7"/>
              </a:solidFill>
              <a:ln cap="flat" cmpd="sng" w="19050">
                <a:solidFill>
                  <a:srgbClr val="1A1A1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 txBox="1"/>
              <p:nvPr/>
            </p:nvSpPr>
            <p:spPr>
              <a:xfrm>
                <a:off x="47625" y="19050"/>
                <a:ext cx="1619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Temporal Context</a:t>
                </a:r>
                <a:endParaRPr b="1" sz="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95250" y="304800"/>
                <a:ext cx="1524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BiLSTM</a:t>
                </a:r>
                <a:endParaRPr b="1" sz="12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64-D Vector Input</a:t>
                </a:r>
                <a:endParaRPr b="0" sz="10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128 Units / Direction</a:t>
                </a:r>
                <a:endParaRPr b="0" sz="10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9" name="Google Shape;209;p20"/>
            <p:cNvGrpSpPr/>
            <p:nvPr/>
          </p:nvGrpSpPr>
          <p:grpSpPr>
            <a:xfrm>
              <a:off x="6000750" y="485775"/>
              <a:ext cx="285750" cy="76200"/>
              <a:chOff x="0" y="-38100"/>
              <a:chExt cx="285750" cy="76200"/>
            </a:xfrm>
          </p:grpSpPr>
          <p:cxnSp>
            <p:nvCxnSpPr>
              <p:cNvPr id="210" name="Google Shape;210;p20"/>
              <p:cNvCxnSpPr/>
              <p:nvPr/>
            </p:nvCxnSpPr>
            <p:spPr>
              <a:xfrm>
                <a:off x="0" y="0"/>
                <a:ext cx="209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1" name="Google Shape;211;p20"/>
              <p:cNvSpPr/>
              <p:nvPr/>
            </p:nvSpPr>
            <p:spPr>
              <a:xfrm>
                <a:off x="209550" y="-38100"/>
                <a:ext cx="76200" cy="762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p20"/>
            <p:cNvGrpSpPr/>
            <p:nvPr/>
          </p:nvGrpSpPr>
          <p:grpSpPr>
            <a:xfrm>
              <a:off x="6343650" y="0"/>
              <a:ext cx="1886100" cy="1047900"/>
              <a:chOff x="0" y="0"/>
              <a:chExt cx="1886100" cy="10479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0" y="0"/>
                <a:ext cx="1886100" cy="10479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0" y="0"/>
                <a:ext cx="1886100" cy="228600"/>
              </a:xfrm>
              <a:prstGeom prst="rect">
                <a:avLst/>
              </a:prstGeom>
              <a:solidFill>
                <a:srgbClr val="00408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 txBox="1"/>
              <p:nvPr/>
            </p:nvSpPr>
            <p:spPr>
              <a:xfrm>
                <a:off x="47625" y="19050"/>
                <a:ext cx="1790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Output Stage</a:t>
                </a:r>
                <a:endParaRPr b="1" sz="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20"/>
              <p:cNvSpPr txBox="1"/>
              <p:nvPr/>
            </p:nvSpPr>
            <p:spPr>
              <a:xfrm>
                <a:off x="95250" y="304800"/>
                <a:ext cx="1695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Dense Layers</a:t>
                </a:r>
                <a:endParaRPr b="1" sz="1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E2E8F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Dropout Regularization</a:t>
                </a:r>
                <a:endParaRPr b="0" sz="1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4-Class Output</a:t>
                </a:r>
                <a:endParaRPr b="1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7" name="Google Shape;217;p20"/>
            <p:cNvGrpSpPr/>
            <p:nvPr/>
          </p:nvGrpSpPr>
          <p:grpSpPr>
            <a:xfrm>
              <a:off x="0" y="1252538"/>
              <a:ext cx="8229750" cy="252413"/>
              <a:chOff x="0" y="109538"/>
              <a:chExt cx="8229750" cy="252413"/>
            </a:xfrm>
          </p:grpSpPr>
          <p:pic>
            <p:nvPicPr>
              <p:cNvPr id="218" name="Google Shape;21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109538"/>
                <a:ext cx="82107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20"/>
              <p:cNvSpPr txBox="1"/>
              <p:nvPr/>
            </p:nvSpPr>
            <p:spPr>
              <a:xfrm>
                <a:off x="0" y="17145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511 Dimensions</a:t>
                </a:r>
                <a:endParaRPr b="0" sz="900">
                  <a:solidFill>
                    <a:srgbClr val="75757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20"/>
              <p:cNvSpPr txBox="1"/>
              <p:nvPr/>
            </p:nvSpPr>
            <p:spPr>
              <a:xfrm>
                <a:off x="2114550" y="17145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Reduced to 64-D</a:t>
                </a:r>
                <a:endParaRPr b="0" sz="900">
                  <a:solidFill>
                    <a:srgbClr val="75757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20"/>
              <p:cNvSpPr txBox="1"/>
              <p:nvPr/>
            </p:nvSpPr>
            <p:spPr>
              <a:xfrm>
                <a:off x="4229100" y="17145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Forward/Backward Context</a:t>
                </a:r>
                <a:endParaRPr b="0" sz="900">
                  <a:solidFill>
                    <a:srgbClr val="75757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20"/>
              <p:cNvSpPr txBox="1"/>
              <p:nvPr/>
            </p:nvSpPr>
            <p:spPr>
              <a:xfrm>
                <a:off x="6343650" y="171450"/>
                <a:ext cx="1886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Final Probability</a:t>
                </a:r>
                <a:endParaRPr b="0" sz="900">
                  <a:solidFill>
                    <a:srgbClr val="757575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23" name="Google Shape;223;p20"/>
          <p:cNvGrpSpPr/>
          <p:nvPr/>
        </p:nvGrpSpPr>
        <p:grpSpPr>
          <a:xfrm>
            <a:off x="457200" y="3048000"/>
            <a:ext cx="8229600" cy="1571700"/>
            <a:chOff x="0" y="0"/>
            <a:chExt cx="8229600" cy="1571700"/>
          </a:xfrm>
        </p:grpSpPr>
        <p:grpSp>
          <p:nvGrpSpPr>
            <p:cNvPr id="224" name="Google Shape;224;p20"/>
            <p:cNvGrpSpPr/>
            <p:nvPr/>
          </p:nvGrpSpPr>
          <p:grpSpPr>
            <a:xfrm>
              <a:off x="0" y="0"/>
              <a:ext cx="2362200" cy="1571700"/>
              <a:chOff x="0" y="0"/>
              <a:chExt cx="2362200" cy="1571700"/>
            </a:xfrm>
          </p:grpSpPr>
          <p:sp>
            <p:nvSpPr>
              <p:cNvPr id="225" name="Google Shape;225;p20"/>
              <p:cNvSpPr/>
              <p:nvPr/>
            </p:nvSpPr>
            <p:spPr>
              <a:xfrm>
                <a:off x="0" y="0"/>
                <a:ext cx="2362200" cy="1571700"/>
              </a:xfrm>
              <a:prstGeom prst="rect">
                <a:avLst/>
              </a:prstGeom>
              <a:solidFill>
                <a:srgbClr val="F4F5F7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0"/>
              <p:cNvSpPr/>
              <p:nvPr/>
            </p:nvSpPr>
            <p:spPr>
              <a:xfrm>
                <a:off x="0" y="0"/>
                <a:ext cx="2362200" cy="38100"/>
              </a:xfrm>
              <a:prstGeom prst="rect">
                <a:avLst/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0"/>
              <p:cNvSpPr txBox="1"/>
              <p:nvPr/>
            </p:nvSpPr>
            <p:spPr>
              <a:xfrm>
                <a:off x="190500" y="190500"/>
                <a:ext cx="19812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Model Scale</a:t>
                </a:r>
                <a:endParaRPr b="0" sz="1000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32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~1.2M</a:t>
                </a:r>
                <a:endParaRPr b="1" sz="32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0056B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Trainable Parameters</a:t>
                </a:r>
                <a:endParaRPr b="0" sz="9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Ensures high computational efficiency for real-time deployment.</a:t>
                </a:r>
                <a:endParaRPr b="0" sz="85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8" name="Google Shape;228;p20"/>
            <p:cNvGrpSpPr/>
            <p:nvPr/>
          </p:nvGrpSpPr>
          <p:grpSpPr>
            <a:xfrm>
              <a:off x="2590800" y="0"/>
              <a:ext cx="5638800" cy="1571700"/>
              <a:chOff x="0" y="0"/>
              <a:chExt cx="5638800" cy="157170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0" y="0"/>
                <a:ext cx="5638800" cy="15717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0" name="Google Shape;230;p20"/>
              <p:cNvGrpSpPr/>
              <p:nvPr/>
            </p:nvGrpSpPr>
            <p:grpSpPr>
              <a:xfrm>
                <a:off x="228600" y="190500"/>
                <a:ext cx="5219850" cy="1162200"/>
                <a:chOff x="0" y="0"/>
                <a:chExt cx="5219850" cy="1162200"/>
              </a:xfrm>
            </p:grpSpPr>
            <p:grpSp>
              <p:nvGrpSpPr>
                <p:cNvPr id="231" name="Google Shape;231;p20"/>
                <p:cNvGrpSpPr/>
                <p:nvPr/>
              </p:nvGrpSpPr>
              <p:grpSpPr>
                <a:xfrm>
                  <a:off x="0" y="0"/>
                  <a:ext cx="5219850" cy="362100"/>
                  <a:chOff x="0" y="0"/>
                  <a:chExt cx="5219850" cy="362100"/>
                </a:xfrm>
              </p:grpSpPr>
              <p:sp>
                <p:nvSpPr>
                  <p:cNvPr id="232" name="Google Shape;232;p20"/>
                  <p:cNvSpPr/>
                  <p:nvPr/>
                </p:nvSpPr>
                <p:spPr>
                  <a:xfrm>
                    <a:off x="0" y="38100"/>
                    <a:ext cx="57300" cy="57300"/>
                  </a:xfrm>
                  <a:prstGeom prst="rect">
                    <a:avLst/>
                  </a:prstGeom>
                  <a:solidFill>
                    <a:srgbClr val="0056B3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" name="Google Shape;233;p20"/>
                  <p:cNvSpPr txBox="1"/>
                  <p:nvPr/>
                </p:nvSpPr>
                <p:spPr>
                  <a:xfrm>
                    <a:off x="171450" y="0"/>
                    <a:ext cx="5048400" cy="362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018">
                        <a:solidFill>
                          <a:srgbClr val="1A1A1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Multi-Scale Feature Extraction:</a:t>
                    </a:r>
                    <a:r>
                      <a:rPr b="0" lang="en" sz="1018">
                        <a:solidFill>
                          <a:srgbClr val="4A4A4A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Stacked dilated Temporal Convolutional Networks (TCNs) extract broad temporal receptive fields using dilation rates of 1, 2, and 4.</a:t>
                    </a:r>
                    <a:endParaRPr b="0" sz="1018">
                      <a:solidFill>
                        <a:srgbClr val="4A4A4A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234" name="Google Shape;234;p20"/>
                <p:cNvGrpSpPr/>
                <p:nvPr/>
              </p:nvGrpSpPr>
              <p:grpSpPr>
                <a:xfrm>
                  <a:off x="0" y="400050"/>
                  <a:ext cx="5219850" cy="362100"/>
                  <a:chOff x="0" y="0"/>
                  <a:chExt cx="5219850" cy="362100"/>
                </a:xfrm>
              </p:grpSpPr>
              <p:sp>
                <p:nvSpPr>
                  <p:cNvPr id="235" name="Google Shape;235;p20"/>
                  <p:cNvSpPr/>
                  <p:nvPr/>
                </p:nvSpPr>
                <p:spPr>
                  <a:xfrm>
                    <a:off x="0" y="38100"/>
                    <a:ext cx="57300" cy="57300"/>
                  </a:xfrm>
                  <a:prstGeom prst="rect">
                    <a:avLst/>
                  </a:prstGeom>
                  <a:solidFill>
                    <a:srgbClr val="0056B3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6" name="Google Shape;236;p20"/>
                  <p:cNvSpPr txBox="1"/>
                  <p:nvPr/>
                </p:nvSpPr>
                <p:spPr>
                  <a:xfrm>
                    <a:off x="171450" y="0"/>
                    <a:ext cx="5048400" cy="362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853">
                        <a:solidFill>
                          <a:srgbClr val="1A1A1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Contextual Dependency Learning:</a:t>
                    </a:r>
                    <a:r>
                      <a:rPr b="0" lang="en" sz="853">
                        <a:solidFill>
                          <a:srgbClr val="4A4A4A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A Bidirectional LSTM with 128 hidden units per direction captures comprehensive forward and backward dependencies across 32-frame sequences.</a:t>
                    </a:r>
                    <a:endParaRPr b="0" sz="853">
                      <a:solidFill>
                        <a:srgbClr val="4A4A4A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237" name="Google Shape;237;p20"/>
                <p:cNvGrpSpPr/>
                <p:nvPr/>
              </p:nvGrpSpPr>
              <p:grpSpPr>
                <a:xfrm>
                  <a:off x="0" y="800100"/>
                  <a:ext cx="5219850" cy="362100"/>
                  <a:chOff x="0" y="0"/>
                  <a:chExt cx="5219850" cy="362100"/>
                </a:xfrm>
              </p:grpSpPr>
              <p:sp>
                <p:nvSpPr>
                  <p:cNvPr id="238" name="Google Shape;238;p20"/>
                  <p:cNvSpPr/>
                  <p:nvPr/>
                </p:nvSpPr>
                <p:spPr>
                  <a:xfrm>
                    <a:off x="0" y="38100"/>
                    <a:ext cx="57300" cy="57300"/>
                  </a:xfrm>
                  <a:prstGeom prst="rect">
                    <a:avLst/>
                  </a:prstGeom>
                  <a:solidFill>
                    <a:srgbClr val="0056B3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9" name="Google Shape;239;p20"/>
                  <p:cNvSpPr txBox="1"/>
                  <p:nvPr/>
                </p:nvSpPr>
                <p:spPr>
                  <a:xfrm>
                    <a:off x="171450" y="0"/>
                    <a:ext cx="5048400" cy="362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853">
                        <a:solidFill>
                          <a:srgbClr val="1A1A1A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Dimensionality Reduction &amp; Regularization:</a:t>
                    </a:r>
                    <a:r>
                      <a:rPr b="0" lang="en" sz="853">
                        <a:solidFill>
                          <a:srgbClr val="4A4A4A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Reduces high-dimensional (511-D) spectral inputs down to 64-D before final fully connected layers and dropout for four-class classification.</a:t>
                    </a:r>
                    <a:endParaRPr b="0" sz="853">
                      <a:solidFill>
                        <a:srgbClr val="4A4A4A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1"/>
          <p:cNvGrpSpPr/>
          <p:nvPr/>
        </p:nvGrpSpPr>
        <p:grpSpPr>
          <a:xfrm>
            <a:off x="457200" y="1047750"/>
            <a:ext cx="8229600" cy="0"/>
            <a:chOff x="0" y="0"/>
            <a:chExt cx="8229600" cy="0"/>
          </a:xfrm>
        </p:grpSpPr>
        <p:cxnSp>
          <p:nvCxnSpPr>
            <p:cNvPr id="245" name="Google Shape;245;p21"/>
            <p:cNvCxnSpPr/>
            <p:nvPr/>
          </p:nvCxnSpPr>
          <p:spPr>
            <a:xfrm>
              <a:off x="0" y="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6" name="Google Shape;246;p21"/>
            <p:cNvCxnSpPr/>
            <p:nvPr/>
          </p:nvCxnSpPr>
          <p:spPr>
            <a:xfrm>
              <a:off x="0" y="0"/>
              <a:ext cx="11430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56B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7" name="Google Shape;247;p21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Architectural Ablation Validates the Hybrid Approach</a:t>
            </a:r>
            <a:endParaRPr b="1" sz="2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57200" y="119062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rPr>
              <a:t>We conducted a comprehensive ablation study using identical file-wise splits to isolate architectural contributions. Evaluation reveals that combining TCN's multiscale feature extraction with BiLSTM's temporal context yields optimal performance under the clean-trained evaluation protocol.</a:t>
            </a:r>
            <a:endParaRPr b="0" sz="1100">
              <a:solidFill>
                <a:srgbClr val="4A4A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9" name="Google Shape;249;p21"/>
          <p:cNvGrpSpPr/>
          <p:nvPr/>
        </p:nvGrpSpPr>
        <p:grpSpPr>
          <a:xfrm>
            <a:off x="457200" y="1905000"/>
            <a:ext cx="8229600" cy="2438400"/>
            <a:chOff x="0" y="0"/>
            <a:chExt cx="8229600" cy="2438400"/>
          </a:xfrm>
        </p:grpSpPr>
        <p:grpSp>
          <p:nvGrpSpPr>
            <p:cNvPr id="250" name="Google Shape;250;p21"/>
            <p:cNvGrpSpPr/>
            <p:nvPr/>
          </p:nvGrpSpPr>
          <p:grpSpPr>
            <a:xfrm>
              <a:off x="0" y="0"/>
              <a:ext cx="3962400" cy="1143000"/>
              <a:chOff x="0" y="0"/>
              <a:chExt cx="3962400" cy="1143000"/>
            </a:xfrm>
          </p:grpSpPr>
          <p:sp>
            <p:nvSpPr>
              <p:cNvPr id="251" name="Google Shape;251;p21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1666" name="adj"/>
                </a:avLst>
              </a:prstGeom>
              <a:solidFill>
                <a:srgbClr val="F4F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1"/>
              <p:cNvSpPr txBox="1"/>
              <p:nvPr/>
            </p:nvSpPr>
            <p:spPr>
              <a:xfrm>
                <a:off x="228600" y="152400"/>
                <a:ext cx="3505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22.73%</a:t>
                </a:r>
                <a:endParaRPr b="1" sz="28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BiLSTM-Only Model</a:t>
                </a:r>
                <a:endParaRPr b="1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Struggled with high-dimensional inputs</a:t>
                </a:r>
                <a:endParaRPr b="0" sz="9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3" name="Google Shape;253;p21"/>
            <p:cNvGrpSpPr/>
            <p:nvPr/>
          </p:nvGrpSpPr>
          <p:grpSpPr>
            <a:xfrm>
              <a:off x="4267200" y="0"/>
              <a:ext cx="3962400" cy="1143000"/>
              <a:chOff x="0" y="0"/>
              <a:chExt cx="3962400" cy="1143000"/>
            </a:xfrm>
          </p:grpSpPr>
          <p:sp>
            <p:nvSpPr>
              <p:cNvPr id="254" name="Google Shape;254;p21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1666" name="adj"/>
                </a:avLst>
              </a:prstGeom>
              <a:solidFill>
                <a:srgbClr val="F4F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1"/>
              <p:cNvSpPr txBox="1"/>
              <p:nvPr/>
            </p:nvSpPr>
            <p:spPr>
              <a:xfrm>
                <a:off x="228600" y="152400"/>
                <a:ext cx="3505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83.43%</a:t>
                </a:r>
                <a:endParaRPr b="1" sz="28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CNN-LSTM</a:t>
                </a:r>
                <a:endParaRPr b="1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Lacked long-term temporal reach</a:t>
                </a:r>
                <a:endParaRPr b="0" sz="9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6" name="Google Shape;256;p21"/>
            <p:cNvGrpSpPr/>
            <p:nvPr/>
          </p:nvGrpSpPr>
          <p:grpSpPr>
            <a:xfrm>
              <a:off x="0" y="1295400"/>
              <a:ext cx="3962400" cy="1143000"/>
              <a:chOff x="0" y="0"/>
              <a:chExt cx="3962400" cy="1143000"/>
            </a:xfrm>
          </p:grpSpPr>
          <p:sp>
            <p:nvSpPr>
              <p:cNvPr id="257" name="Google Shape;257;p21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1666" name="adj"/>
                </a:avLst>
              </a:prstGeom>
              <a:solidFill>
                <a:srgbClr val="F4F5F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1"/>
              <p:cNvSpPr txBox="1"/>
              <p:nvPr/>
            </p:nvSpPr>
            <p:spPr>
              <a:xfrm>
                <a:off x="228600" y="152400"/>
                <a:ext cx="3505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56B3"/>
                    </a:solidFill>
                    <a:latin typeface="Inter"/>
                    <a:ea typeface="Inter"/>
                    <a:cs typeface="Inter"/>
                    <a:sym typeface="Inter"/>
                  </a:rPr>
                  <a:t>91.36%</a:t>
                </a:r>
                <a:endParaRPr b="1" sz="28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TCN-Only Architecture</a:t>
                </a:r>
                <a:endParaRPr b="1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57575"/>
                    </a:solidFill>
                    <a:latin typeface="Inter"/>
                    <a:ea typeface="Inter"/>
                    <a:cs typeface="Inter"/>
                    <a:sym typeface="Inter"/>
                  </a:rPr>
                  <a:t>Multiscale filters; missed bidirectional context</a:t>
                </a:r>
                <a:endParaRPr b="0" sz="9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9" name="Google Shape;259;p21"/>
            <p:cNvGrpSpPr/>
            <p:nvPr/>
          </p:nvGrpSpPr>
          <p:grpSpPr>
            <a:xfrm>
              <a:off x="4267200" y="1295400"/>
              <a:ext cx="3962400" cy="1143000"/>
              <a:chOff x="0" y="0"/>
              <a:chExt cx="3962400" cy="1143000"/>
            </a:xfrm>
          </p:grpSpPr>
          <p:sp>
            <p:nvSpPr>
              <p:cNvPr id="260" name="Google Shape;260;p21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1666" name="adj"/>
                </a:avLst>
              </a:prstGeom>
              <a:solidFill>
                <a:srgbClr val="0056B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1"/>
              <p:cNvSpPr txBox="1"/>
              <p:nvPr/>
            </p:nvSpPr>
            <p:spPr>
              <a:xfrm>
                <a:off x="228600" y="152400"/>
                <a:ext cx="3505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95.45%</a:t>
                </a:r>
                <a:endParaRPr b="1" sz="2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Proposed TCN-BiLSTM</a:t>
                </a:r>
                <a:endParaRPr b="1" sz="10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Outperformed all baselines (0.964 Macro F1)</a:t>
                </a:r>
                <a:endParaRPr b="0" sz="9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2" name="Google Shape;262;p21"/>
          <p:cNvGrpSpPr/>
          <p:nvPr/>
        </p:nvGrpSpPr>
        <p:grpSpPr>
          <a:xfrm>
            <a:off x="457200" y="4476750"/>
            <a:ext cx="8229600" cy="428550"/>
            <a:chOff x="0" y="0"/>
            <a:chExt cx="8229600" cy="428550"/>
          </a:xfrm>
        </p:grpSpPr>
        <p:cxnSp>
          <p:nvCxnSpPr>
            <p:cNvPr id="263" name="Google Shape;263;p21"/>
            <p:cNvCxnSpPr/>
            <p:nvPr/>
          </p:nvCxnSpPr>
          <p:spPr>
            <a:xfrm>
              <a:off x="0" y="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4" name="Google Shape;264;p21"/>
            <p:cNvSpPr txBox="1"/>
            <p:nvPr/>
          </p:nvSpPr>
          <p:spPr>
            <a:xfrm>
              <a:off x="0" y="95250"/>
              <a:ext cx="82296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rPr>
                <a:t>Key Takeaway:</a:t>
              </a:r>
              <a:r>
                <a:rPr b="0" lang="en" sz="1000">
                  <a:solidFill>
                    <a:srgbClr val="4A4A4A"/>
                  </a:solidFill>
                  <a:latin typeface="Inter"/>
                  <a:ea typeface="Inter"/>
                  <a:cs typeface="Inter"/>
                  <a:sym typeface="Inter"/>
                </a:rPr>
                <a:t> The proposed hybrid TCN-BiLSTM architecture effectively resolves long-range dependencies and multiscale spectral feature integration, achieving state-of-the-art accuracy.</a:t>
              </a:r>
              <a:endParaRPr b="0" sz="1000">
                <a:solidFill>
                  <a:srgbClr val="4A4A4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2"/>
          <p:cNvGrpSpPr/>
          <p:nvPr/>
        </p:nvGrpSpPr>
        <p:grpSpPr>
          <a:xfrm>
            <a:off x="457200" y="304800"/>
            <a:ext cx="8229600" cy="666750"/>
            <a:chOff x="457200" y="304800"/>
            <a:chExt cx="8229600" cy="666750"/>
          </a:xfrm>
        </p:grpSpPr>
        <p:sp>
          <p:nvSpPr>
            <p:cNvPr id="270" name="Google Shape;270;p22"/>
            <p:cNvSpPr txBox="1"/>
            <p:nvPr/>
          </p:nvSpPr>
          <p:spPr>
            <a:xfrm>
              <a:off x="457200" y="30480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4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Advancing Reliable and Deployable Motor Condition Monitoring</a:t>
              </a:r>
              <a:endParaRPr b="1" sz="204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71" name="Google Shape;271;p22"/>
            <p:cNvGrpSpPr/>
            <p:nvPr/>
          </p:nvGrpSpPr>
          <p:grpSpPr>
            <a:xfrm>
              <a:off x="457200" y="971550"/>
              <a:ext cx="8229600" cy="0"/>
              <a:chOff x="0" y="0"/>
              <a:chExt cx="8229600" cy="0"/>
            </a:xfrm>
          </p:grpSpPr>
          <p:cxnSp>
            <p:nvCxnSpPr>
              <p:cNvPr id="272" name="Google Shape;272;p22"/>
              <p:cNvCxnSpPr/>
              <p:nvPr/>
            </p:nvCxnSpPr>
            <p:spPr>
              <a:xfrm>
                <a:off x="0" y="0"/>
                <a:ext cx="8229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22"/>
              <p:cNvCxnSpPr/>
              <p:nvPr/>
            </p:nvCxnSpPr>
            <p:spPr>
              <a:xfrm>
                <a:off x="0" y="0"/>
                <a:ext cx="1143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056B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74" name="Google Shape;274;p22"/>
          <p:cNvGrpSpPr/>
          <p:nvPr/>
        </p:nvGrpSpPr>
        <p:grpSpPr>
          <a:xfrm>
            <a:off x="457200" y="1162050"/>
            <a:ext cx="8229600" cy="1285800"/>
            <a:chOff x="0" y="0"/>
            <a:chExt cx="8229600" cy="1285800"/>
          </a:xfrm>
        </p:grpSpPr>
        <p:sp>
          <p:nvSpPr>
            <p:cNvPr id="275" name="Google Shape;275;p22"/>
            <p:cNvSpPr/>
            <p:nvPr/>
          </p:nvSpPr>
          <p:spPr>
            <a:xfrm>
              <a:off x="0" y="0"/>
              <a:ext cx="8229600" cy="1285800"/>
            </a:xfrm>
            <a:prstGeom prst="roundRect">
              <a:avLst>
                <a:gd fmla="val 1481" name="adj"/>
              </a:avLst>
            </a:prstGeom>
            <a:solidFill>
              <a:srgbClr val="F4F5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0" y="0"/>
              <a:ext cx="47700" cy="1285800"/>
            </a:xfrm>
            <a:prstGeom prst="rect">
              <a:avLst/>
            </a:prstGeom>
            <a:solidFill>
              <a:srgbClr val="0056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228600" y="152400"/>
              <a:ext cx="18096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515">
                  <a:solidFill>
                    <a:srgbClr val="0056B3"/>
                  </a:solidFill>
                  <a:latin typeface="Inter"/>
                  <a:ea typeface="Inter"/>
                  <a:cs typeface="Inter"/>
                  <a:sym typeface="Inter"/>
                </a:rPr>
                <a:t>99.55%</a:t>
              </a:r>
              <a:endParaRPr b="1" sz="3515">
                <a:solidFill>
                  <a:srgbClr val="0056B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1A1A1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Overall Accuracy</a:t>
              </a:r>
              <a:endParaRPr b="0" sz="833">
                <a:solidFill>
                  <a:srgbClr val="1A1A1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cxnSp>
          <p:nvCxnSpPr>
            <p:cNvPr id="278" name="Google Shape;278;p22"/>
            <p:cNvCxnSpPr/>
            <p:nvPr/>
          </p:nvCxnSpPr>
          <p:spPr>
            <a:xfrm>
              <a:off x="2095500" y="190500"/>
              <a:ext cx="0" cy="90480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9" name="Google Shape;279;p22"/>
            <p:cNvSpPr txBox="1"/>
            <p:nvPr/>
          </p:nvSpPr>
          <p:spPr>
            <a:xfrm>
              <a:off x="2286000" y="152400"/>
              <a:ext cx="57150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TCN-BiLSTM framework successfully bridges the gap between laboratory and industrial fault diagnosis. By training on mixed conditions with real background noise, the model achieves a remarkable 99.55% overall accuracy. The strict file-wise splitting protocol ensures these results reflect realistic deployment capabilities.</a:t>
              </a:r>
              <a:endParaRPr b="0" sz="11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0" name="Google Shape;280;p22"/>
          <p:cNvGrpSpPr/>
          <p:nvPr/>
        </p:nvGrpSpPr>
        <p:grpSpPr>
          <a:xfrm>
            <a:off x="457200" y="2667000"/>
            <a:ext cx="8229600" cy="2076450"/>
            <a:chOff x="0" y="0"/>
            <a:chExt cx="8229600" cy="2076450"/>
          </a:xfrm>
        </p:grpSpPr>
        <p:sp>
          <p:nvSpPr>
            <p:cNvPr id="281" name="Google Shape;281;p22"/>
            <p:cNvSpPr txBox="1"/>
            <p:nvPr/>
          </p:nvSpPr>
          <p:spPr>
            <a:xfrm>
              <a:off x="0" y="0"/>
              <a:ext cx="822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056B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Future Research Directions</a:t>
              </a:r>
              <a:endParaRPr b="0" sz="1500">
                <a:solidFill>
                  <a:srgbClr val="0056B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82" name="Google Shape;282;p22"/>
            <p:cNvGrpSpPr/>
            <p:nvPr/>
          </p:nvGrpSpPr>
          <p:grpSpPr>
            <a:xfrm>
              <a:off x="0" y="400050"/>
              <a:ext cx="8229600" cy="1676400"/>
              <a:chOff x="0" y="0"/>
              <a:chExt cx="8229600" cy="1676400"/>
            </a:xfrm>
          </p:grpSpPr>
          <p:grpSp>
            <p:nvGrpSpPr>
              <p:cNvPr id="283" name="Google Shape;283;p22"/>
              <p:cNvGrpSpPr/>
              <p:nvPr/>
            </p:nvGrpSpPr>
            <p:grpSpPr>
              <a:xfrm>
                <a:off x="0" y="0"/>
                <a:ext cx="2552700" cy="1676400"/>
                <a:chOff x="0" y="0"/>
                <a:chExt cx="2552700" cy="1676400"/>
              </a:xfrm>
            </p:grpSpPr>
            <p:cxnSp>
              <p:nvCxnSpPr>
                <p:cNvPr id="284" name="Google Shape;284;p22"/>
                <p:cNvCxnSpPr/>
                <p:nvPr/>
              </p:nvCxnSpPr>
              <p:spPr>
                <a:xfrm>
                  <a:off x="0" y="0"/>
                  <a:ext cx="381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56B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5" name="Google Shape;285;p22"/>
                <p:cNvSpPr txBox="1"/>
                <p:nvPr/>
              </p:nvSpPr>
              <p:spPr>
                <a:xfrm>
                  <a:off x="0" y="152400"/>
                  <a:ext cx="25527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00">
                      <a:solidFill>
                        <a:srgbClr val="1A1A1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Cross-Dataset Validation</a:t>
                  </a:r>
                  <a:endParaRPr b="0" sz="13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4A4A4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Conduct extensive cross-dataset validation on CWRU and Paderborn benchmarks to evaluate model generalizability across diverse operating environments.</a:t>
                  </a:r>
                  <a:endParaRPr b="0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86" name="Google Shape;286;p22"/>
              <p:cNvGrpSpPr/>
              <p:nvPr/>
            </p:nvGrpSpPr>
            <p:grpSpPr>
              <a:xfrm>
                <a:off x="2838450" y="0"/>
                <a:ext cx="2552700" cy="1676400"/>
                <a:chOff x="0" y="0"/>
                <a:chExt cx="2552700" cy="1676400"/>
              </a:xfrm>
            </p:grpSpPr>
            <p:cxnSp>
              <p:nvCxnSpPr>
                <p:cNvPr id="287" name="Google Shape;287;p22"/>
                <p:cNvCxnSpPr/>
                <p:nvPr/>
              </p:nvCxnSpPr>
              <p:spPr>
                <a:xfrm>
                  <a:off x="0" y="0"/>
                  <a:ext cx="381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56B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88" name="Google Shape;288;p22"/>
                <p:cNvSpPr txBox="1"/>
                <p:nvPr/>
              </p:nvSpPr>
              <p:spPr>
                <a:xfrm>
                  <a:off x="0" y="152400"/>
                  <a:ext cx="25527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00">
                      <a:solidFill>
                        <a:srgbClr val="1A1A1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Model Interpretability</a:t>
                  </a:r>
                  <a:endParaRPr b="0" sz="13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4A4A4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Integrate Grad-CAM techniques for interpretability and visual explainability of deep learned representations and decision boundaries.</a:t>
                  </a:r>
                  <a:endParaRPr b="0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89" name="Google Shape;289;p22"/>
              <p:cNvGrpSpPr/>
              <p:nvPr/>
            </p:nvGrpSpPr>
            <p:grpSpPr>
              <a:xfrm>
                <a:off x="5676900" y="0"/>
                <a:ext cx="2552700" cy="1676400"/>
                <a:chOff x="0" y="0"/>
                <a:chExt cx="2552700" cy="1676400"/>
              </a:xfrm>
            </p:grpSpPr>
            <p:cxnSp>
              <p:nvCxnSpPr>
                <p:cNvPr id="290" name="Google Shape;290;p22"/>
                <p:cNvCxnSpPr/>
                <p:nvPr/>
              </p:nvCxnSpPr>
              <p:spPr>
                <a:xfrm>
                  <a:off x="0" y="0"/>
                  <a:ext cx="3810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28575">
                  <a:solidFill>
                    <a:srgbClr val="0056B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291" name="Google Shape;291;p22"/>
                <p:cNvSpPr txBox="1"/>
                <p:nvPr/>
              </p:nvSpPr>
              <p:spPr>
                <a:xfrm>
                  <a:off x="0" y="152400"/>
                  <a:ext cx="2552700" cy="1524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00">
                      <a:solidFill>
                        <a:srgbClr val="1A1A1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Edge IoT Deployment</a:t>
                  </a:r>
                  <a:endParaRPr b="0" sz="1300">
                    <a:solidFill>
                      <a:srgbClr val="1A1A1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b="0" lang="en" sz="1100">
                      <a:solidFill>
                        <a:srgbClr val="4A4A4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Optimize the lightweight 1.2 million parameter model for efficient edge deployment on resource-constrained embedded IoT hardware.</a:t>
                  </a:r>
                  <a:endParaRPr b="0" sz="1100">
                    <a:solidFill>
                      <a:srgbClr val="4A4A4A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7" name="Google Shape;297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457200" y="381000"/>
              <a:ext cx="762000" cy="38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457200" y="4686300"/>
              <a:ext cx="8229600" cy="9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" name="Google Shape;300;p23"/>
          <p:cNvSpPr txBox="1"/>
          <p:nvPr/>
        </p:nvSpPr>
        <p:spPr>
          <a:xfrm>
            <a:off x="457175" y="53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Inter"/>
                <a:ea typeface="Inter"/>
                <a:cs typeface="Inter"/>
                <a:sym typeface="Inter"/>
              </a:rPr>
              <a:t>Conclusion &amp; Deployment Roadmap</a:t>
            </a:r>
            <a:endParaRPr b="1" sz="2000"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1" name="Google Shape;301;p23"/>
          <p:cNvGrpSpPr/>
          <p:nvPr/>
        </p:nvGrpSpPr>
        <p:grpSpPr>
          <a:xfrm>
            <a:off x="452675" y="1159675"/>
            <a:ext cx="8238653" cy="762000"/>
            <a:chOff x="0" y="0"/>
            <a:chExt cx="8229600" cy="762000"/>
          </a:xfrm>
        </p:grpSpPr>
        <p:sp>
          <p:nvSpPr>
            <p:cNvPr id="302" name="Google Shape;302;p23"/>
            <p:cNvSpPr/>
            <p:nvPr/>
          </p:nvSpPr>
          <p:spPr>
            <a:xfrm>
              <a:off x="0" y="0"/>
              <a:ext cx="8229600" cy="762000"/>
            </a:xfrm>
            <a:prstGeom prst="roundRect">
              <a:avLst>
                <a:gd fmla="val 5000" name="adj"/>
              </a:avLst>
            </a:prstGeom>
            <a:solidFill>
              <a:srgbClr val="FFFFFF">
                <a:alpha val="4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fmla="val 33333" name="adj"/>
              </a:avLst>
            </a:prstGeom>
            <a:solidFill>
              <a:srgbClr val="EE6C4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228600" y="95250"/>
              <a:ext cx="7810500" cy="5715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/>
                <a:t>“The hybrid framework provides lightweight, noise-robust diagnosis, paving the way for edge deployment.”</a:t>
              </a:r>
              <a:endParaRPr i="1" sz="1800"/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452450" y="2090752"/>
            <a:ext cx="8239050" cy="2750576"/>
            <a:chOff x="-4762" y="-4762"/>
            <a:chExt cx="8239050" cy="2371800"/>
          </a:xfrm>
        </p:grpSpPr>
        <p:grpSp>
          <p:nvGrpSpPr>
            <p:cNvPr id="306" name="Google Shape;306;p23"/>
            <p:cNvGrpSpPr/>
            <p:nvPr/>
          </p:nvGrpSpPr>
          <p:grpSpPr>
            <a:xfrm>
              <a:off x="-4762" y="-4762"/>
              <a:ext cx="3990900" cy="2371800"/>
              <a:chOff x="-4762" y="-4762"/>
              <a:chExt cx="3990900" cy="2371800"/>
            </a:xfrm>
          </p:grpSpPr>
          <p:pic>
            <p:nvPicPr>
              <p:cNvPr id="307" name="Google Shape;307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3990900" cy="2371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" name="Google Shape;308;p23"/>
              <p:cNvSpPr txBox="1"/>
              <p:nvPr/>
            </p:nvSpPr>
            <p:spPr>
              <a:xfrm>
                <a:off x="228600" y="190500"/>
                <a:ext cx="3524400" cy="21765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chemeClr val="accent1"/>
                    </a:solidFill>
                  </a:rPr>
                  <a:t>Architecture &amp; Latency Benchmarks</a:t>
                </a:r>
                <a:endParaRPr b="1" sz="1500">
                  <a:solidFill>
                    <a:schemeClr val="accent1"/>
                  </a:solidFill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b="1" lang="en"/>
                  <a:t>The TCN-BiLSTM architecture successfully addresses the complementary limitations of purely convolutional and recurrent models.</a:t>
                </a:r>
                <a:br>
                  <a:rPr b="1" lang="en"/>
                </a:br>
                <a:r>
                  <a:rPr b="1" lang="en"/>
                  <a:t>Inference latencies of 1.8 ms on GPU and 12.4 ms on CPU confirm its suitability for real-time PC-side condition monitoring.</a:t>
                </a:r>
                <a:endParaRPr b="1"/>
              </a:p>
            </p:txBody>
          </p:sp>
        </p:grpSp>
        <p:grpSp>
          <p:nvGrpSpPr>
            <p:cNvPr id="309" name="Google Shape;309;p23"/>
            <p:cNvGrpSpPr/>
            <p:nvPr/>
          </p:nvGrpSpPr>
          <p:grpSpPr>
            <a:xfrm>
              <a:off x="4243388" y="-4762"/>
              <a:ext cx="3990900" cy="2371800"/>
              <a:chOff x="-4762" y="-4762"/>
              <a:chExt cx="3990900" cy="2371800"/>
            </a:xfrm>
          </p:grpSpPr>
          <p:pic>
            <p:nvPicPr>
              <p:cNvPr id="310" name="Google Shape;310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3990900" cy="2371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23"/>
              <p:cNvSpPr txBox="1"/>
              <p:nvPr/>
            </p:nvSpPr>
            <p:spPr>
              <a:xfrm>
                <a:off x="97450" y="190500"/>
                <a:ext cx="3655500" cy="1981200"/>
              </a:xfrm>
              <a:prstGeom prst="rect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chemeClr val="accent1"/>
                    </a:solidFill>
                  </a:rPr>
                  <a:t>Future IoT Edge Deployment Roadmap</a:t>
                </a:r>
                <a:endParaRPr b="1" sz="1500">
                  <a:solidFill>
                    <a:schemeClr val="accent1"/>
                  </a:solidFill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"/>
                  <a:t>Future work will focus on cross-dataset validation using CWRU and Paderborn benchmarks, the integration of Grad-CAM-based explainability for feature maps, and quantized deployment on embedded IoT hardware such as STM32 or ARM Cortex-M platforms.</a:t>
                </a:r>
                <a:endParaRPr b="1"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